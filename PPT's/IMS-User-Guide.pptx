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377440"/>
            <a:ext cx="6949440" cy="694944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4023360"/>
            <a:ext cx="6583680" cy="658368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INSUREDESK  ·  STEP-BY-STEP USER GUIDE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1371600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the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94360" y="32461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walkthrough for customers — create your account, sign in, buy a policy, pay your premium, file a claim and track everything in one place. No paperwork, no branch visits.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4617720"/>
            <a:ext cx="1234440" cy="420624"/>
          </a:xfrm>
          <a:prstGeom prst="roundRect">
            <a:avLst>
              <a:gd name="adj" fmla="val 26087"/>
            </a:avLst>
          </a:prstGeom>
          <a:solidFill>
            <a:srgbClr val="4F46E5">
              <a:alpha val="75000"/>
            </a:srgbClr>
          </a:solidFill>
          <a:ln w="9525">
            <a:solidFill>
              <a:srgbClr val="818CF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47091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8408" y="4617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965960" y="4617720"/>
            <a:ext cx="1234440" cy="420624"/>
          </a:xfrm>
          <a:prstGeom prst="roundRect">
            <a:avLst>
              <a:gd name="adj" fmla="val 26087"/>
            </a:avLst>
          </a:prstGeom>
          <a:solidFill>
            <a:srgbClr val="4F46E5">
              <a:alpha val="75000"/>
            </a:srgbClr>
          </a:solidFill>
          <a:ln w="9525">
            <a:solidFill>
              <a:srgbClr val="818CF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76" y="470916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50008" y="4617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37560" y="4617720"/>
            <a:ext cx="1234440" cy="420624"/>
          </a:xfrm>
          <a:prstGeom prst="roundRect">
            <a:avLst>
              <a:gd name="adj" fmla="val 26087"/>
            </a:avLst>
          </a:prstGeom>
          <a:solidFill>
            <a:srgbClr val="4F46E5">
              <a:alpha val="75000"/>
            </a:srgbClr>
          </a:solidFill>
          <a:ln w="9525">
            <a:solidFill>
              <a:srgbClr val="818CF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470916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21608" y="4617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709160" y="4617720"/>
            <a:ext cx="1234440" cy="420624"/>
          </a:xfrm>
          <a:prstGeom prst="roundRect">
            <a:avLst>
              <a:gd name="adj" fmla="val 26087"/>
            </a:avLst>
          </a:prstGeom>
          <a:solidFill>
            <a:srgbClr val="4F46E5">
              <a:alpha val="75000"/>
            </a:srgbClr>
          </a:solidFill>
          <a:ln w="9525">
            <a:solidFill>
              <a:srgbClr val="818CF8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4709160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93208" y="46177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94360" y="5486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four insurance types  ·  10 easy steps  ·  Every screen shown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464808" y="1947672"/>
            <a:ext cx="5202936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5" descr="assets/screens/image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011680"/>
            <a:ext cx="5074920" cy="234770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537960" y="46177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your journey starts — the InsureDesk sign-in page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Journey in 10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can do as a customer, in the order you will normally do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61848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18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" y="2642616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free account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87752" y="2240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141732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61848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618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98648" y="22860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35224" y="2642616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email &amp; password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73752" y="2240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141732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161848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1618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84648" y="22860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1224" y="2642616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policies at a glance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59752" y="2240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60920" y="141732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61848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1618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70648" y="22860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Plans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07224" y="2642616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Life, Health, Motor, Home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45752" y="2240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46920" y="141732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24160" y="161848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10424160" y="1618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56648" y="22860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93224" y="2642616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application for approval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388620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80160" y="408736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1280160" y="4087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2648" y="47548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Approved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9224" y="5111496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reviews · policy goes ACTIVE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587752" y="4709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788920" y="388620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6160" y="408736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4087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898648" y="47548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Premium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935224" y="5111496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dues, keep the policy alive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873752" y="4709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74920" y="388620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0" y="408736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7" name="Text 45"/>
          <p:cNvSpPr/>
          <p:nvPr/>
        </p:nvSpPr>
        <p:spPr>
          <a:xfrm>
            <a:off x="5852160" y="4087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84648" y="47548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 Claim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21224" y="5111496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against an active policy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159752" y="4709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60920" y="388620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38160" y="408736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3" name="Text 51"/>
          <p:cNvSpPr/>
          <p:nvPr/>
        </p:nvSpPr>
        <p:spPr>
          <a:xfrm>
            <a:off x="8138160" y="4087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70648" y="47548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&amp; Notify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507224" y="5111496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status in real time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445752" y="4709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646920" y="388620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5F3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424160" y="408736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9" name="Text 57"/>
          <p:cNvSpPr/>
          <p:nvPr/>
        </p:nvSpPr>
        <p:spPr>
          <a:xfrm>
            <a:off x="10424160" y="4087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756648" y="47548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9793224" y="5111496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details &amp; password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— Create Your Account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25880" y="7498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customers self-register. Agent and admin accounts are created for you by the administrator.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6437376" cy="3046789"/>
          </a:xfrm>
          <a:prstGeom prst="roundRect">
            <a:avLst>
              <a:gd name="adj" fmla="val 270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6000"/>
              </a:srgbClr>
            </a:outerShdw>
          </a:effectLst>
        </p:spPr>
      </p:sp>
      <p:pic>
        <p:nvPicPr>
          <p:cNvPr id="7" name="Image 0" descr="assets/screens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309360" cy="29187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628701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page — http://localhost:5173/register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086600" y="17465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68896" y="18288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1691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sign-in page, click “Create a free account” to open the registration form.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086600" y="26609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68896" y="27432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full name, email address, phone number, date of birth and address.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86600" y="35753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68896" y="36576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7452360" y="3520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password of at least 8 characters and re-type it in “Confirm Password”.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86600" y="44897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8896" y="4572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745236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checks you as you type — a red message appears under any field that needs fixing (bad email, mismatched passwords, phone that isn’t 10 digits).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086600" y="54041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68896" y="54864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7452360" y="5349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Register. You are signed in straight away and land on your dashboard.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516636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5896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5166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email is your username and cannot be changed later, so use one you check regularly — policy and claim notifications are tied to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— Log In to Your Portal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25880" y="7498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for every role — the system automatically opens the correct portal for you.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85232" y="1536192"/>
            <a:ext cx="6437376" cy="3046789"/>
          </a:xfrm>
          <a:prstGeom prst="roundRect">
            <a:avLst>
              <a:gd name="adj" fmla="val 270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6000"/>
              </a:srgbClr>
            </a:outerShdw>
          </a:effectLst>
        </p:spPr>
      </p:sp>
      <p:pic>
        <p:nvPicPr>
          <p:cNvPr id="7" name="Image 0" descr="assets/screen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600200"/>
            <a:ext cx="6309360" cy="29187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49240" y="4628701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page — http://localhost:5173/login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17465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18288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691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email and password you registered with.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6609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" y="27432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eye icon inside the password box to reveal what you typed if the sign-in fails.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5753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36576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520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“Sign In →”. The system checks your details and issues a secure token that keeps you logged in.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44897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" y="4572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taken to your own portal — Customer, Agent or Admin — with only the menu items you are allowed to use.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54041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216" y="54864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349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session lasts 24 hours; after that, simply sign in again.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49240" y="516636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45896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971032" y="5166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 “Network Error”? The backend server isn’t running. Start it first, then reload the page.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 — Everything at a Glance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25880" y="7498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you see: your policy counts, what you owe next, and shortcuts to common tasks.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6437376" cy="3046789"/>
          </a:xfrm>
          <a:prstGeom prst="roundRect">
            <a:avLst>
              <a:gd name="adj" fmla="val 270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6000"/>
              </a:srgbClr>
            </a:outerShdw>
          </a:effectLst>
        </p:spPr>
      </p:sp>
      <p:pic>
        <p:nvPicPr>
          <p:cNvPr id="7" name="Image 0" descr="assets/screens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309360" cy="29187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628701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 — your home screen after signing in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086600" y="17465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68896" y="18288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1691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 cards show Total Policies, Active Policies, Pending Applications and Total Claims.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086600" y="26609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68896" y="27432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“Next Premium Due” banner shows the amount, the policy number and the due date — with a Pay Now button right there.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86600" y="35753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68896" y="36576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7452360" y="3520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 take you straight to Browse Plans, File a Claim or View My Policies.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86600" y="44897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8896" y="4572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745236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icon in the top bar shows a red count whenever something new has happened.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086600" y="54041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68896" y="54864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7452360" y="5349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left sidebar any time to move between Browse Plans, My Policies, My Claims and My Payments.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516636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5896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5166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due date shown in yellow means the premium is DUE; if it turns red it is OVERDUE — pay it to keep your policy active.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Plans &amp; Apply for a Policy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25880" y="7498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plans across Life, Health, Motor and Home — then apply in one short form.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85232" y="1536192"/>
            <a:ext cx="6437376" cy="3046789"/>
          </a:xfrm>
          <a:prstGeom prst="roundRect">
            <a:avLst>
              <a:gd name="adj" fmla="val 270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6000"/>
              </a:srgbClr>
            </a:outerShdw>
          </a:effectLst>
        </p:spPr>
      </p:sp>
      <p:pic>
        <p:nvPicPr>
          <p:cNvPr id="7" name="Image 0" descr="assets/screens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600200"/>
            <a:ext cx="6309360" cy="29187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49240" y="4628701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Plans — every active plan with an “Apply Now” button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17465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18288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691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“Browse Plans” from the sidebar. Each card shows the coverage amount, the premium (and how often it is paid) and the duration in years.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6609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" y="27432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“All Types” dropdown to filter by LIFE, HEALTH, MOTOR or HOME.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5753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36576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520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“Apply Now” on the plan you want to open the application form.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44897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" y="4572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details the plan needs — nominee for Life, family members for Health, vehicle registration for Motor, property address for Home.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54041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216" y="54864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349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Submit. Your application is created with status PENDING and a unique policy number.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49240" y="516636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45896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971032" y="5166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does not charge you anything. Your first premium is only generated once your agent approves the policy.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Policies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25880" y="7498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an application from PENDING to ACTIVE, and see all your cover in one table.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6437376" cy="3046789"/>
          </a:xfrm>
          <a:prstGeom prst="roundRect">
            <a:avLst>
              <a:gd name="adj" fmla="val 270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6000"/>
              </a:srgbClr>
            </a:outerShdw>
          </a:effectLst>
        </p:spPr>
      </p:sp>
      <p:pic>
        <p:nvPicPr>
          <p:cNvPr id="7" name="Image 0" descr="assets/screens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309360" cy="29187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628701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Policies — track every application and active policy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086600" y="17465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68896" y="18288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1691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Policies” lists your policy number, plan, type, coverage, status and valid-till date.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086600" y="26609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68896" y="27432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 tell you where you stand: PENDING (waiting for approval), ACTIVE (you are covered), REJECTED, EXPIRED or CANCELLED.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86600" y="35753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68896" y="36576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7452360" y="3520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View to open the full policy details, including the information you entered when applying and any remark from your agent.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86600" y="44897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8896" y="4572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745236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approved, the start and end dates are calculated automatically from the plan duration.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086600" y="54041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68896" y="54864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7452360" y="5349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“Request Cancel” on an active policy if you no longer need it — the admin confirms the cancellation.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516636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5896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5166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file a claim against a policy that is ACTIVE — a PENDING application is not yet cover.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Your Premiums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25880" y="7498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simulated in this system — no real card details are ever entered or stored.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85232" y="1536192"/>
            <a:ext cx="6437376" cy="3046789"/>
          </a:xfrm>
          <a:prstGeom prst="roundRect">
            <a:avLst>
              <a:gd name="adj" fmla="val 270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6000"/>
              </a:srgbClr>
            </a:outerShdw>
          </a:effectLst>
        </p:spPr>
      </p:sp>
      <p:pic>
        <p:nvPicPr>
          <p:cNvPr id="7" name="Image 0" descr="assets/screens/imag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600200"/>
            <a:ext cx="6309360" cy="29187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49240" y="4628701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Payments — premiums due on top, payment history below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17465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18288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691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“My Payments”. The “Premiums Due” table lists every upcoming payment with its policy, due date, amount and status.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6609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" y="27432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Pay Now to open the confirmation box, check the amount, and confirm.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5753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36576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520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is recorded instantly with a generated transaction reference and marked PAID.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44897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" y="4572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“Payment History” keeps a permanent record of everything you have paid, and when.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54041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216" y="54864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349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are created automatically according to your plan’s frequency — monthly, quarterly or yearly.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49240" y="516636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45896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971032" y="5166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premium passes its due date it is flagged OVERDUE and you are notified. Clearing it keeps your policy in good standing.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 Claim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25880" y="7498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claim against any active policy — from your phone or laptop, at any time.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8912" y="1536192"/>
            <a:ext cx="6437376" cy="3046789"/>
          </a:xfrm>
          <a:prstGeom prst="roundRect">
            <a:avLst>
              <a:gd name="adj" fmla="val 270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6000"/>
              </a:srgbClr>
            </a:outerShdw>
          </a:effectLst>
        </p:spPr>
      </p:sp>
      <p:pic>
        <p:nvPicPr>
          <p:cNvPr id="7" name="Image 0" descr="assets/screens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309360" cy="29187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628701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Claims — the “+ File a Claim” form and your claim history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086600" y="17465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68896" y="18288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1691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“My Claims” and click “+ File a Claim”.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086600" y="26609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68896" y="27432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policy from the dropdown — only your ACTIVE policies are listed.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86600" y="35753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68896" y="36576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7452360" y="3520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claim amount, the incident date and a description of what happened.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86600" y="44897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8896" y="4572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745236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amount can never be more than that policy’s coverage amount; the system rejects it with a clear message if it is.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086600" y="54041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68896" y="54864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7452360" y="5349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Submit. Your claim gets a unique claim number and starts life with status FILED.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516636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5896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5166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in the description and use the correct incident date — that is what your agent reads when reviewing the claim.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Your Claim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25880" y="7498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moves through the same four stages — you can see the current stage on “My Claims” at any time.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submitted the claim. It is waiting in your agent’s queue.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14630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UNDER_REVIEW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has picked it up and is checking the details.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80760" y="14630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55080" y="146304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463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REJECTED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records a decision, with remarks explaining it.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06840" y="14630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81160" y="146304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1463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81160" y="2148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settles an approved claim — settled amount and date are recorded.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" y="3182112"/>
            <a:ext cx="6254496" cy="2962187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6000"/>
              </a:srgbClr>
            </a:outerShdw>
          </a:effectLst>
        </p:spPr>
      </p:sp>
      <p:pic>
        <p:nvPicPr>
          <p:cNvPr id="22" name="Image 0" descr="assets/screens/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46120"/>
            <a:ext cx="6126480" cy="283417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6190019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— you are told the moment your claim status changes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086600" y="33467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168896" y="3429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3"/>
          <p:cNvSpPr/>
          <p:nvPr/>
        </p:nvSpPr>
        <p:spPr>
          <a:xfrm>
            <a:off x="7452360" y="3291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column on “My Claims” always shows the current stage.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086600" y="4005072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68896" y="408736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6"/>
          <p:cNvSpPr/>
          <p:nvPr/>
        </p:nvSpPr>
        <p:spPr>
          <a:xfrm>
            <a:off x="7452360" y="39502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Remarks column carries your agent’s or the admin’s note on the decision.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086600" y="4663440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68896" y="4745736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29"/>
          <p:cNvSpPr/>
          <p:nvPr/>
        </p:nvSpPr>
        <p:spPr>
          <a:xfrm>
            <a:off x="7452360" y="460857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settled, the Settled column shows the exact amount paid out.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086600" y="5321808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68896" y="5404104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2"/>
          <p:cNvSpPr/>
          <p:nvPr/>
        </p:nvSpPr>
        <p:spPr>
          <a:xfrm>
            <a:off x="7452360" y="52669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“Notifications” from the sidebar to see every update, newest first.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086600" y="5980176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168896" y="6062472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5"/>
          <p:cNvSpPr/>
          <p:nvPr/>
        </p:nvSpPr>
        <p:spPr>
          <a:xfrm>
            <a:off x="7452360" y="592531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“Mark all as read” to clear the red count on the bell icon.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Your Profile &amp; Password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25880" y="7498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contact details current and change your password whenever you want.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85232" y="1536192"/>
            <a:ext cx="6437376" cy="3046789"/>
          </a:xfrm>
          <a:prstGeom prst="roundRect">
            <a:avLst>
              <a:gd name="adj" fmla="val 270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0" dist="38100" dir="5400000">
              <a:srgbClr val="1E1B4B">
                <a:alpha val="26000"/>
              </a:srgbClr>
            </a:outerShdw>
          </a:effectLst>
        </p:spPr>
      </p:sp>
      <p:pic>
        <p:nvPicPr>
          <p:cNvPr id="7" name="Image 0" descr="assets/screens/image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600200"/>
            <a:ext cx="6309360" cy="29187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49240" y="4628701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 — account details on the left, change password on the right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17465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18288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691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your name in the top-right corner to open “My Profile”.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6609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" y="27432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full name, phone number and address, then save. Your email and role are fixed and cannot be edited.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5753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36576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520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“Change Password”, enter your current password, then the new one twice.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44897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" y="45720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passwords must be at least 8 characters. Passwords are stored scrambled — nobody, not even the admin, can read yours.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5404104"/>
            <a:ext cx="237744" cy="237744"/>
          </a:xfrm>
          <a:prstGeom prst="ellipse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216" y="54864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349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Logout in the top-right whenever you finish, especially on a shared computer.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49240" y="516636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45896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971032" y="5166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phone number correct — it is the detail your assigned agent uses to reach you about policies and claims.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377440"/>
            <a:ext cx="6949440" cy="694944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4023360"/>
            <a:ext cx="6583680" cy="658368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10896"/>
            <a:ext cx="658368" cy="65836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57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92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to Know — Quick Answers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325880" y="7498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users ask most often, answered in one line each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14996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until my policy is approved?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24712" y="186537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assigned agent (or the admin) reviews the application and approves or rejects it with a remark. You are notified either way — check My Policies for the live status.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09360" y="137160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57276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1152" y="14996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my data safe?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931152" y="186537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password is stored only as an irreversible hash, every request is checked against a secure token, and you can only ever see your own policies, claims and payments.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2852928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5409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24712" y="2980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my money really taken?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24712" y="334670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Premium payments are simulated for this system — no card or bank details are asked for or stored. Each payment gets a generated transaction reference.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09360" y="2852928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05409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31152" y="2980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was my claim rejected?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931152" y="334670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is always written in the Remarks column on My Claims. Common causes: the policy wasn’t active, or the claim amount exceeded the coverage.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02920" y="4334256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535424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24712" y="4462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my agent?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1124712" y="482803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assigns one agent to each customer. Your agent handles your policy approvals and claim reviews — you’ll get a notification when you are assigned.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309360" y="4334256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4F46E5">
              <a:alpha val="32000"/>
            </a:srgbClr>
          </a:solidFill>
          <a:ln w="9525">
            <a:solidFill>
              <a:srgbClr val="6366F1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4535424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31152" y="4462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missed an update.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6931152" y="482803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lost — open Notifications from the sidebar to see the full history of policy, claim and payment events on your account.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502920" y="5943600"/>
            <a:ext cx="11292840" cy="548640"/>
          </a:xfrm>
          <a:prstGeom prst="roundRect">
            <a:avLst>
              <a:gd name="adj" fmla="val 16667"/>
            </a:avLst>
          </a:prstGeom>
          <a:solidFill>
            <a:srgbClr val="7C3AED">
              <a:alpha val="45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777240" y="5943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stuck?  </a:t>
            </a:r>
            <a:pPr indent="0" marL="0">
              <a:buNone/>
            </a:pPr>
            <a:r>
              <a:rPr lang="en-US" sz="12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assigned agent through the details on your policy, or reach the administrator — the account you sign in with is all they need to help you.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2026-07-16T15:55:33Z</dcterms:created>
  <dcterms:modified xsi:type="dcterms:W3CDTF">2026-07-16T15:55:33Z</dcterms:modified>
</cp:coreProperties>
</file>