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286000"/>
            <a:ext cx="6858000" cy="68580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4206240"/>
            <a:ext cx="6400800" cy="6400800"/>
          </a:xfrm>
          <a:prstGeom prst="ellipse">
            <a:avLst/>
          </a:prstGeom>
          <a:solidFill>
            <a:srgbClr val="4F46E5">
              <a:alpha val="1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7498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 ·  ACADEMIC PROJECT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5760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94360" y="342900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role-based platform that digitalizes the complete insurance life cycle — plans, policies, premiums, claims and notifications — for Admin, Agent and Customer.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4663440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4F46E5">
              <a:alpha val="75000"/>
            </a:srgbClr>
          </a:solidFill>
          <a:ln w="9525">
            <a:solidFill>
              <a:srgbClr val="818CF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75488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466344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965960" y="4663440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4F46E5">
              <a:alpha val="75000"/>
            </a:srgbClr>
          </a:solidFill>
          <a:ln w="9525">
            <a:solidFill>
              <a:srgbClr val="818CF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832" y="475488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331720" y="466344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337560" y="4663440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4F46E5">
              <a:alpha val="75000"/>
            </a:srgbClr>
          </a:solidFill>
          <a:ln w="9525">
            <a:solidFill>
              <a:srgbClr val="818CF8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4754880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703320" y="466344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709160" y="4663440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4F46E5">
              <a:alpha val="75000"/>
            </a:srgbClr>
          </a:solidFill>
          <a:ln w="9525">
            <a:solidFill>
              <a:srgbClr val="818CF8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754880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74920" y="466344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594360" y="56235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·  Spring Boot 3  ·  MySQL 8  ·  JWT Security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github.com/sasichandan23/insurance-management-system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483096" y="1911096"/>
            <a:ext cx="5184648" cy="2457437"/>
          </a:xfrm>
          <a:prstGeom prst="roundRect">
            <a:avLst>
              <a:gd name="adj" fmla="val 3349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8000"/>
              </a:srgbClr>
            </a:outerShdw>
          </a:effectLst>
        </p:spPr>
      </p:sp>
      <p:pic>
        <p:nvPicPr>
          <p:cNvPr id="23" name="Image 5" descr="assets/screens/image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1965960"/>
            <a:ext cx="5074920" cy="2347709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537960" y="4386821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— animated split-screen with floating insurance cards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System — Manual Process vs. IMS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 from the SRS: the existing paper-based workflow and how the proposed system removes each pain point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4937760"/>
          </a:xfrm>
          <a:prstGeom prst="roundRect">
            <a:avLst>
              <a:gd name="adj" fmla="val 2222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190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Manual System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kept on paper and disconnected spreadsheets — redundancy and inconsistency</a:t>
            </a:r>
            <a:endParaRPr lang="en-US" sz="1350" dirty="0"/>
          </a:p>
          <a:p>
            <a:pPr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must visit the branch to buy policies, pay premiums or file claims</a:t>
            </a:r>
            <a:endParaRPr lang="en-US" sz="1350" dirty="0"/>
          </a:p>
          <a:p>
            <a:pPr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of policy status, premium dues or claim progress</a:t>
            </a:r>
            <a:endParaRPr lang="en-US" sz="1350" dirty="0"/>
          </a:p>
          <a:p>
            <a:pPr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probability of human error in premium and claim calculations</a:t>
            </a:r>
            <a:endParaRPr lang="en-US" sz="1350" dirty="0"/>
          </a:p>
          <a:p>
            <a:pPr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documents vulnerable to loss; no centralized reporting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1463040"/>
            <a:ext cx="5486400" cy="4937760"/>
          </a:xfrm>
          <a:prstGeom prst="roundRect">
            <a:avLst>
              <a:gd name="adj" fmla="val 2222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3736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17190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IMS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086600" y="233172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centralized MySQL database — consistent, backed-up, queryable</a:t>
            </a:r>
            <a:endParaRPr lang="en-US" sz="1350" dirty="0"/>
          </a:p>
          <a:p>
            <a:pPr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portals: register, browse plans, apply, pay and claim from any device</a:t>
            </a:r>
            <a:endParaRPr lang="en-US" sz="1350" dirty="0"/>
          </a:p>
          <a:p>
            <a:pPr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tracking plus in-app notifications for every stakeholder</a:t>
            </a:r>
            <a:endParaRPr lang="en-US" sz="1350" dirty="0"/>
          </a:p>
          <a:p>
            <a:pPr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policy numbering, premium-due generation and status transitions</a:t>
            </a:r>
            <a:endParaRPr lang="en-US" sz="1350" dirty="0"/>
          </a:p>
          <a:p>
            <a:pPr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JWT security and live dashboards for management decisions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layered architecture — every request flows React → REST API → Service → Repository → MySQL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6720840" cy="1298448"/>
          </a:xfrm>
          <a:prstGeom prst="roundRect">
            <a:avLst>
              <a:gd name="adj" fmla="val 704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92808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208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184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1929384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SPA (Vite) with Axios and React Router. Role-based navigation, client-side validation, JSON over HTTP only.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990088"/>
            <a:ext cx="6720840" cy="1298448"/>
          </a:xfrm>
          <a:prstGeom prst="roundRect">
            <a:avLst>
              <a:gd name="adj" fmla="val 704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374136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35021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0998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Tier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63040" y="3410712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+ Spring Boot 3 layered as Controller → Service → Repository with DTOs, global exception handling and transactions. Spring Security 6 + JWT filter authorizes every request.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4471416"/>
            <a:ext cx="6720840" cy="1298448"/>
          </a:xfrm>
          <a:prstGeom prst="roundRect">
            <a:avLst>
              <a:gd name="adj" fmla="val 704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4855464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9834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5811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48920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normalized to 3NF — 7 tables with foreign keys, unique constraints and enum status columns.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2920" y="5989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tooling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920240" y="5989320"/>
            <a:ext cx="969264" cy="347472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21" name="Text 16"/>
          <p:cNvSpPr/>
          <p:nvPr/>
        </p:nvSpPr>
        <p:spPr>
          <a:xfrm>
            <a:off x="1920240" y="598932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2953512" y="5989320"/>
            <a:ext cx="969264" cy="347472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23" name="Text 18"/>
          <p:cNvSpPr/>
          <p:nvPr/>
        </p:nvSpPr>
        <p:spPr>
          <a:xfrm>
            <a:off x="2953512" y="598932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3986784" y="5989320"/>
            <a:ext cx="969264" cy="347472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25" name="Text 20"/>
          <p:cNvSpPr/>
          <p:nvPr/>
        </p:nvSpPr>
        <p:spPr>
          <a:xfrm>
            <a:off x="3986784" y="598932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020056" y="5989320"/>
            <a:ext cx="969264" cy="347472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27" name="Text 22"/>
          <p:cNvSpPr/>
          <p:nvPr/>
        </p:nvSpPr>
        <p:spPr>
          <a:xfrm>
            <a:off x="5020056" y="598932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053328" y="5989320"/>
            <a:ext cx="969264" cy="347472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29" name="Text 24"/>
          <p:cNvSpPr/>
          <p:nvPr/>
        </p:nvSpPr>
        <p:spPr>
          <a:xfrm>
            <a:off x="6053328" y="598932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7086600" y="5989320"/>
            <a:ext cx="969264" cy="347472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31" name="Text 26"/>
          <p:cNvSpPr/>
          <p:nvPr/>
        </p:nvSpPr>
        <p:spPr>
          <a:xfrm>
            <a:off x="7086600" y="598932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7635240" y="1371600"/>
            <a:ext cx="4069080" cy="5212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20000"/>
              </a:srgbClr>
            </a:outerShdw>
          </a:effectLst>
        </p:spPr>
      </p:sp>
      <p:pic>
        <p:nvPicPr>
          <p:cNvPr id="33" name="Image 3" descr="assets/07-architecture-dia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554480"/>
            <a:ext cx="2926080" cy="466344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635240" y="62636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(docs/diagrams)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&amp; Role-Based Access Control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JWT-secured portals — every endpoint enforces role authorization (401 unauthenticated, 403 forbidden)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71907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562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007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1732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control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468880"/>
            <a:ext cx="3154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&amp; create agents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plan catalogue (CRUD)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Approve/cancel policies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approved claims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agents to customers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dashboard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5112" y="146304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F5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81144" y="171907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85623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9512" y="17007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239512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customers only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99432" y="2468880"/>
            <a:ext cx="3154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only their customers' data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pending policies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claims (Under Review → Approved / Rejected)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customer payments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dashboard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47304" y="146304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F5F3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03336" y="171907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18562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61704" y="17007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9061704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421624" y="2468880"/>
            <a:ext cx="3154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manage profile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filter active plans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with type-specific details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premiums (simulated)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track claims</a:t>
            </a:r>
            <a:endParaRPr lang="en-US" sz="1200" dirty="0"/>
          </a:p>
          <a:p>
            <a:pPr marL="127000" indent="-1270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dashboard &amp; alerts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02920" y="566928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1E1B4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943600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78992" y="579729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stateless auth (24 h expiry)</a:t>
            </a:r>
            <a:endParaRPr lang="en-US" sz="10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594360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867912" y="579729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0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5943600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56832" y="579729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checks on every endpoint</a:t>
            </a:r>
            <a:endParaRPr lang="en-US" sz="10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5943600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45752" y="579729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parameterized queries — no SQL injection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Specification — Nine Modules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traceable requirements (FR-1.1 … FR-9.3) organized into nine feature modules, each with High / Medium priority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611880" cy="1517904"/>
          </a:xfrm>
          <a:prstGeom prst="roundRect">
            <a:avLst>
              <a:gd name="adj" fmla="val 6024"/>
            </a:avLst>
          </a:prstGeom>
          <a:solidFill>
            <a:srgbClr val="F5F3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66420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6424" y="16093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22376" y="19933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 → signed JWT; token verified on every request; BCrypt-only storage (FR-1)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4325112" y="1481328"/>
            <a:ext cx="3611880" cy="1517904"/>
          </a:xfrm>
          <a:prstGeom prst="roundRect">
            <a:avLst>
              <a:gd name="adj" fmla="val 6024"/>
            </a:avLst>
          </a:prstGeom>
          <a:solidFill>
            <a:srgbClr val="F5F3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28616" y="16093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44568" y="19933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CRUD, agent creation, activate/deactivate; self-service profile &amp; password (FR-2)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8147304" y="1481328"/>
            <a:ext cx="3611880" cy="1517904"/>
          </a:xfrm>
          <a:prstGeom prst="roundRect">
            <a:avLst>
              <a:gd name="adj" fmla="val 6024"/>
            </a:avLst>
          </a:prstGeom>
          <a:solidFill>
            <a:srgbClr val="F5F3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166420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50808" y="16093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Plans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366760" y="19933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across LIFE / HEALTH / MOTOR / HOME with coverage, premium, frequency, duration (FR-3)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502920" y="3145536"/>
            <a:ext cx="3611880" cy="1517904"/>
          </a:xfrm>
          <a:prstGeom prst="roundRect">
            <a:avLst>
              <a:gd name="adj" fmla="val 6024"/>
            </a:avLst>
          </a:prstGeom>
          <a:solidFill>
            <a:srgbClr val="F5F3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32841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06424" y="3273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Lifecycle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22376" y="3657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→ approve/reject → auto numbering, start/end dates, expiry &amp; cancellation (FR-4)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4325112" y="3145536"/>
            <a:ext cx="3611880" cy="1517904"/>
          </a:xfrm>
          <a:prstGeom prst="roundRect">
            <a:avLst>
              <a:gd name="adj" fmla="val 6024"/>
            </a:avLst>
          </a:prstGeom>
          <a:solidFill>
            <a:srgbClr val="F5F3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328416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28616" y="3273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Workflow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544568" y="3657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review → approve/reject → settle; claim ≤ coverage enforced in service layer (FR-5)</a:t>
            </a:r>
            <a:endParaRPr lang="en-US" sz="1080" dirty="0"/>
          </a:p>
        </p:txBody>
      </p:sp>
      <p:sp>
        <p:nvSpPr>
          <p:cNvPr id="24" name="Shape 17"/>
          <p:cNvSpPr/>
          <p:nvPr/>
        </p:nvSpPr>
        <p:spPr>
          <a:xfrm>
            <a:off x="8147304" y="3145536"/>
            <a:ext cx="3611880" cy="1517904"/>
          </a:xfrm>
          <a:prstGeom prst="roundRect">
            <a:avLst>
              <a:gd name="adj" fmla="val 6024"/>
            </a:avLst>
          </a:prstGeom>
          <a:solidFill>
            <a:srgbClr val="F5F3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3328416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750808" y="3273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Payments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366760" y="3657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generation per frequency, simulated payment with txn reference, overdue flags (FR-6)</a:t>
            </a:r>
            <a:endParaRPr lang="en-US" sz="1080" dirty="0"/>
          </a:p>
        </p:txBody>
      </p:sp>
      <p:sp>
        <p:nvSpPr>
          <p:cNvPr id="28" name="Shape 20"/>
          <p:cNvSpPr/>
          <p:nvPr/>
        </p:nvSpPr>
        <p:spPr>
          <a:xfrm>
            <a:off x="502920" y="4809744"/>
            <a:ext cx="3611880" cy="1517904"/>
          </a:xfrm>
          <a:prstGeom prst="roundRect">
            <a:avLst>
              <a:gd name="adj" fmla="val 6024"/>
            </a:avLst>
          </a:prstGeom>
          <a:solidFill>
            <a:srgbClr val="F5F3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4992624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06424" y="4937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Assignment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22376" y="532180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links one agent ↔ many customers; assignment drives all data visibility (FR-7)</a:t>
            </a:r>
            <a:endParaRPr lang="en-US" sz="1080" dirty="0"/>
          </a:p>
        </p:txBody>
      </p:sp>
      <p:sp>
        <p:nvSpPr>
          <p:cNvPr id="32" name="Shape 23"/>
          <p:cNvSpPr/>
          <p:nvPr/>
        </p:nvSpPr>
        <p:spPr>
          <a:xfrm>
            <a:off x="4325112" y="4809744"/>
            <a:ext cx="3611880" cy="1517904"/>
          </a:xfrm>
          <a:prstGeom prst="roundRect">
            <a:avLst>
              <a:gd name="adj" fmla="val 6024"/>
            </a:avLst>
          </a:prstGeom>
          <a:solidFill>
            <a:srgbClr val="F5F3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4992624"/>
            <a:ext cx="292608" cy="29260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928616" y="4937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4544568" y="532180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alerts on policy, claim &amp; payment events; unread counts, mark-as-read (FR-8)</a:t>
            </a:r>
            <a:endParaRPr lang="en-US" sz="1080" dirty="0"/>
          </a:p>
        </p:txBody>
      </p:sp>
      <p:sp>
        <p:nvSpPr>
          <p:cNvPr id="36" name="Shape 26"/>
          <p:cNvSpPr/>
          <p:nvPr/>
        </p:nvSpPr>
        <p:spPr>
          <a:xfrm>
            <a:off x="8147304" y="4809744"/>
            <a:ext cx="3611880" cy="1517904"/>
          </a:xfrm>
          <a:prstGeom prst="roundRect">
            <a:avLst>
              <a:gd name="adj" fmla="val 6024"/>
            </a:avLst>
          </a:prstGeom>
          <a:solidFill>
            <a:srgbClr val="F5F3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8472" y="4992624"/>
            <a:ext cx="292608" cy="29260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8750808" y="4937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400" dirty="0"/>
          </a:p>
        </p:txBody>
      </p:sp>
      <p:sp>
        <p:nvSpPr>
          <p:cNvPr id="39" name="Text 28"/>
          <p:cNvSpPr/>
          <p:nvPr/>
        </p:nvSpPr>
        <p:spPr>
          <a:xfrm>
            <a:off x="8366760" y="532180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role-specific statistics for Admin, Agent and Customer (FR-9)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Workflow Specifications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machines defined in the SRS and enforced by service-layer business rules and scheduled tasks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lifecycle  (FR-4)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737360" cy="54864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58568" y="18745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60904" y="1874520"/>
            <a:ext cx="1737360" cy="54864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2660904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16552" y="18745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18888" y="1874520"/>
            <a:ext cx="1737360" cy="548640"/>
          </a:xfrm>
          <a:prstGeom prst="roundRect">
            <a:avLst>
              <a:gd name="adj" fmla="val 15000"/>
            </a:avLst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74536" y="18745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976872" y="1874520"/>
            <a:ext cx="1737360" cy="54864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6976872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5328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under an active plan → agent/admin decision with remarks → approval computes start &amp; end dates; a scheduled task auto-expires policies past their end date. Rejected applications end as REJECTED.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3246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lifecycle  (FR-5)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" y="3703320"/>
            <a:ext cx="1737360" cy="54864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58568" y="37033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660904" y="3703320"/>
            <a:ext cx="1737360" cy="548640"/>
          </a:xfrm>
          <a:prstGeom prst="roundRect">
            <a:avLst>
              <a:gd name="adj" fmla="val 15000"/>
            </a:avLst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2660904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UNDER_REVIEW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16552" y="37033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818888" y="3703320"/>
            <a:ext cx="1737360" cy="54864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818888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/ REJECTED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74536" y="37033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976872" y="3703320"/>
            <a:ext cx="1737360" cy="54864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6976872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43616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files against an ACTIVE policy → agent reviews → admin settles approved claims with settled amount and date. Rule: claim amount can never exceed the policy's coverage amount.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516636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394960"/>
            <a:ext cx="292608" cy="29260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43000" y="528523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auto-generated policy &amp; claim numbers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325112" y="516636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5394960"/>
            <a:ext cx="292608" cy="29260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965192" y="528523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dues generated per frequency (monthly / quarterly / yearly)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8147304" y="516636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5394960"/>
            <a:ext cx="292608" cy="29260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787384" y="528523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premiums flagged &amp; customer notified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— Administrator Portal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screenshots of the running application (logged in as admin@ims.com)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48056" y="1545336"/>
            <a:ext cx="5641848" cy="2668942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8000"/>
              </a:srgbClr>
            </a:outerShdw>
          </a:effectLst>
        </p:spPr>
      </p:sp>
      <p:pic>
        <p:nvPicPr>
          <p:cNvPr id="5" name="Image 0" descr="assets/screens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5532120" cy="25592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232566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— system-wide stats &amp; claims by status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00216" y="1545336"/>
            <a:ext cx="5641848" cy="2668942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8000"/>
              </a:srgbClr>
            </a:outerShdw>
          </a:effectLst>
        </p:spPr>
      </p:sp>
      <p:pic>
        <p:nvPicPr>
          <p:cNvPr id="8" name="Image 1" descr="assets/screen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5532120" cy="25592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4232566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catalogue — card view with “+ New Plan” and type filter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02920" y="4892040"/>
            <a:ext cx="11384280" cy="1463040"/>
          </a:xfrm>
          <a:prstGeom prst="roundRect">
            <a:avLst>
              <a:gd name="adj" fmla="val 6250"/>
            </a:avLst>
          </a:prstGeom>
          <a:solidFill>
            <a:srgbClr val="F5F3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50292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admin portal: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table with approve / reject / cancel actions and status badges  ·  Claims management with settlement modal  ·  Users directory with search, role filter and “+ New Agent”  ·  Agent–customer assignment screen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— Customer Portal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journey: dashboard with next premium due, plan application and claim filing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48056" y="1499616"/>
            <a:ext cx="5504688" cy="2605490"/>
          </a:xfrm>
          <a:prstGeom prst="roundRect">
            <a:avLst>
              <a:gd name="adj" fmla="val 3159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8000"/>
              </a:srgbClr>
            </a:outerShdw>
          </a:effectLst>
        </p:spPr>
      </p:sp>
      <p:pic>
        <p:nvPicPr>
          <p:cNvPr id="5" name="Image 0" descr="assets/screens/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394960" cy="24957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12339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dashboard — “Pay Now” banner &amp; quick actions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00216" y="1499616"/>
            <a:ext cx="5504688" cy="2605490"/>
          </a:xfrm>
          <a:prstGeom prst="roundRect">
            <a:avLst>
              <a:gd name="adj" fmla="val 3159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8000"/>
              </a:srgbClr>
            </a:outerShdw>
          </a:effectLst>
        </p:spPr>
      </p:sp>
      <p:pic>
        <p:nvPicPr>
          <p:cNvPr id="8" name="Image 1" descr="assets/screens/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54480"/>
            <a:ext cx="5394960" cy="24957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412339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Plans — Apply Now modal with type-specific fields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48056" y="4379976"/>
            <a:ext cx="3630168" cy="1738319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8000"/>
              </a:srgbClr>
            </a:outerShdw>
          </a:effectLst>
        </p:spPr>
      </p:sp>
      <p:pic>
        <p:nvPicPr>
          <p:cNvPr id="11" name="Image 2" descr="assets/screens/image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434840"/>
            <a:ext cx="3520440" cy="16285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2920" y="6136583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 Claim — policy picker &amp; claim details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288536" y="4379976"/>
            <a:ext cx="3630168" cy="1738319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8000"/>
              </a:srgbClr>
            </a:outerShdw>
          </a:effectLst>
        </p:spPr>
      </p:sp>
      <p:pic>
        <p:nvPicPr>
          <p:cNvPr id="14" name="Image 3" descr="assets/screens/image1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4434840"/>
            <a:ext cx="3520440" cy="162859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343400" y="6136583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Payments — simulated Pay Now &amp; history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8129016" y="4379976"/>
            <a:ext cx="3630168" cy="1738319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8000"/>
              </a:srgbClr>
            </a:outerShdw>
          </a:effectLst>
        </p:spPr>
      </p:sp>
      <p:pic>
        <p:nvPicPr>
          <p:cNvPr id="17" name="Image 4" descr="assets/screens/image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4434840"/>
            <a:ext cx="3520440" cy="16285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83880" y="6136583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Policies — status &amp; detail view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— Agent Portal &amp; REST API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workload views plus the auto-generated Swagger documentation of all 9 endpoint groups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48056" y="1545336"/>
            <a:ext cx="5641848" cy="2668942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8000"/>
              </a:srgbClr>
            </a:outerShdw>
          </a:effectLst>
        </p:spPr>
      </p:sp>
      <p:pic>
        <p:nvPicPr>
          <p:cNvPr id="5" name="Image 0" descr="assets/screens/image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5532120" cy="25592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232566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dashboard — assigned customers, pending reviews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00216" y="1545336"/>
            <a:ext cx="5641848" cy="2668942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8000"/>
              </a:srgbClr>
            </a:outerShdw>
          </a:effectLst>
        </p:spPr>
      </p:sp>
      <p:pic>
        <p:nvPicPr>
          <p:cNvPr id="8" name="Image 1" descr="assets/screens/image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5532120" cy="25592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4232566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— interactive API docs with JWT Authorize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02920" y="502920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E1B4B"/>
          </a:solidFill>
          <a:ln/>
        </p:spPr>
      </p:sp>
      <p:sp>
        <p:nvSpPr>
          <p:cNvPr id="11" name="Text 7"/>
          <p:cNvSpPr/>
          <p:nvPr/>
        </p:nvSpPr>
        <p:spPr>
          <a:xfrm>
            <a:off x="685800" y="51755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85800" y="55595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· login → JWT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383280" y="502920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E1B4B"/>
          </a:solidFill>
          <a:ln/>
        </p:spPr>
      </p:sp>
      <p:sp>
        <p:nvSpPr>
          <p:cNvPr id="14" name="Text 10"/>
          <p:cNvSpPr/>
          <p:nvPr/>
        </p:nvSpPr>
        <p:spPr>
          <a:xfrm>
            <a:off x="3566160" y="51755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/api/policies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66160" y="55595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· approve · cancel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63640" y="502920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E1B4B"/>
          </a:solidFill>
          <a:ln/>
        </p:spPr>
      </p:sp>
      <p:sp>
        <p:nvSpPr>
          <p:cNvPr id="17" name="Text 13"/>
          <p:cNvSpPr/>
          <p:nvPr/>
        </p:nvSpPr>
        <p:spPr>
          <a:xfrm>
            <a:off x="6446520" y="51755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/api/claims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55595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· review · settle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9144000" y="502920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E1B4B"/>
          </a:solidFill>
          <a:ln/>
        </p:spPr>
      </p:sp>
      <p:sp>
        <p:nvSpPr>
          <p:cNvPr id="20" name="Text 16"/>
          <p:cNvSpPr/>
          <p:nvPr/>
        </p:nvSpPr>
        <p:spPr>
          <a:xfrm>
            <a:off x="9326880" y="51755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/api/payments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9326880" y="55595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· history · dues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286000"/>
            <a:ext cx="6858000" cy="68580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926080" y="4206240"/>
            <a:ext cx="6400800" cy="6400800"/>
          </a:xfrm>
          <a:prstGeom prst="ellipse">
            <a:avLst/>
          </a:prstGeom>
          <a:solidFill>
            <a:srgbClr val="4F46E5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Attributes, Data &amp; Deployment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specifications from the SRS, the normalized data model, and the zero-cost cloud path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5989320" cy="841248"/>
          </a:xfrm>
          <a:prstGeom prst="roundRect">
            <a:avLst>
              <a:gd name="adj" fmla="val 10870"/>
            </a:avLst>
          </a:prstGeom>
          <a:solidFill>
            <a:srgbClr val="4F46E5">
              <a:alpha val="32000"/>
            </a:srgbClr>
          </a:solidFill>
          <a:ln w="9525">
            <a:solidFill>
              <a:srgbClr val="6366F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2880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645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88720" y="19202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responses &lt; 2 s at 50 concurrent users; paginated list endpoints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2523744"/>
            <a:ext cx="5989320" cy="841248"/>
          </a:xfrm>
          <a:prstGeom prst="roundRect">
            <a:avLst>
              <a:gd name="adj" fmla="val 10870"/>
            </a:avLst>
          </a:prstGeom>
          <a:solidFill>
            <a:srgbClr val="4F46E5">
              <a:alpha val="32000"/>
            </a:srgbClr>
          </a:solidFill>
          <a:ln w="9525">
            <a:solidFill>
              <a:srgbClr val="6366F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79806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6151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88720" y="288950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+ RBAC; CORS locked to frontend origin; no secrets in source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3493008"/>
            <a:ext cx="5989320" cy="841248"/>
          </a:xfrm>
          <a:prstGeom prst="roundRect">
            <a:avLst>
              <a:gd name="adj" fmla="val 10870"/>
            </a:avLst>
          </a:prstGeom>
          <a:solidFill>
            <a:srgbClr val="4F46E5">
              <a:alpha val="32000"/>
            </a:srgbClr>
          </a:solidFill>
          <a:ln w="9525">
            <a:solidFill>
              <a:srgbClr val="6366F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76732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584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88720" y="38587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services, FK integrity, global exception handler — no stack-trace leaks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4462272"/>
            <a:ext cx="5989320" cy="841248"/>
          </a:xfrm>
          <a:prstGeom prst="roundRect">
            <a:avLst>
              <a:gd name="adj" fmla="val 10870"/>
            </a:avLst>
          </a:prstGeom>
          <a:solidFill>
            <a:srgbClr val="4F46E5">
              <a:alpha val="32000"/>
            </a:srgbClr>
          </a:solidFill>
          <a:ln w="9525">
            <a:solidFill>
              <a:srgbClr val="6366F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73659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45537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188720" y="48280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backend → horizontal scaling; portable across Windows / Linux / macOS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812280" y="1554480"/>
            <a:ext cx="48920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</p:spPr>
      </p:sp>
      <p:pic>
        <p:nvPicPr>
          <p:cNvPr id="24" name="Image 4" descr="assets/06-er-diagr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691640"/>
            <a:ext cx="3977640" cy="290000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95160" y="4480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— 7 tables in 3NF (users, plans, policies, claims, payments, assignments, notifications)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502920" y="5532120"/>
            <a:ext cx="11228832" cy="914400"/>
          </a:xfrm>
          <a:prstGeom prst="roundRect">
            <a:avLst>
              <a:gd name="adj" fmla="val 10000"/>
            </a:avLst>
          </a:prstGeom>
          <a:solidFill>
            <a:srgbClr val="7C3AED">
              <a:alpha val="45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77240" y="55321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Docker Compose (MySQL + backend + frontend)  or  free cloud — TiDB Cloud Serverless + Render + Vercel, no credit card.  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admin@ims.com / Admin@123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812280" y="4892040"/>
            <a:ext cx="4892040" cy="457200"/>
          </a:xfrm>
          <a:prstGeom prst="roundRect">
            <a:avLst>
              <a:gd name="adj" fmla="val 20000"/>
            </a:avLst>
          </a:prstGeom>
          <a:solidFill>
            <a:srgbClr val="4F46E5">
              <a:alpha val="32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967728" y="48920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1–5 complete: Design → Backend → Frontend → Integration → Deployment &amp; Docs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2026-07-14T12:24:03Z</dcterms:created>
  <dcterms:modified xsi:type="dcterms:W3CDTF">2026-07-14T12:24:03Z</dcterms:modified>
</cp:coreProperties>
</file>